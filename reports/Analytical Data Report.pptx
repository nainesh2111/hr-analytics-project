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2ADF-FF39-736D-E0B2-92465702D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7F2C4-17AC-8581-5459-53363A005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3B7B6-6C05-021D-B7FD-FE935588D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9F68-C71C-4E97-8871-417A91D45D9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8EB2-41E5-E875-DB60-28B6C8055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645BA-7220-FBFF-BF5D-0293AD9A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56811-9309-4ED2-B18B-335FB0FF1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120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CEDF7-F5F9-45E9-1835-8540F808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4D484-FDF6-F308-8A5D-D220CBA77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D36C6-D914-DB51-757D-D321B8118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9F68-C71C-4E97-8871-417A91D45D9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16067-6E86-E452-23E4-DD75C0BB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BA7AC-139B-4128-8837-A88DFBD7E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56811-9309-4ED2-B18B-335FB0FF1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59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E3B0-159A-91A3-B85C-4271DA90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06354-CB23-EA5A-9A69-FDF0376A6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4CF6A-FC29-1090-5F23-D464BC1D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9F68-C71C-4E97-8871-417A91D45D9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FD77B-0E68-2019-9548-69E552B3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CA9BB-B659-3028-DEC3-A1A4702D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56811-9309-4ED2-B18B-335FB0FF1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72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AD2C1-9F69-577F-4922-2AEB01EDC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58960-956D-48DC-6E3C-FE6DB17D8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096FB-C090-5545-2B1C-0AA8221D9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E1987-EC1B-35BA-68DF-75DA3E3CE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9F68-C71C-4E97-8871-417A91D45D9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69A1-E421-54DD-D1BE-8B3AF905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A09E7-667E-A1EF-1DE1-CEB128A96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56811-9309-4ED2-B18B-335FB0FF1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96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EBA3E-FE84-D06A-4B5F-FADA777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16B3E-20BC-FA50-2B2E-4FCCC5A85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41235-7C6A-9EA9-6D54-4EAA86E7A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D9709-7FB7-D325-2623-0F69D15F8A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12A27-C8A1-E191-0456-95C9E3E8A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59CFF6-C427-09A8-26A5-B7B1AC54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9F68-C71C-4E97-8871-417A91D45D9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77E641-8F71-F9F2-DBEB-95A98C2A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B94207-7F53-3010-19D3-AD3205E9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56811-9309-4ED2-B18B-335FB0FF1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040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C703-8588-DDC2-BBBA-41AD1338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928E3-13D9-9AF4-657B-32818A993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9F68-C71C-4E97-8871-417A91D45D9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FFE36-C1E8-0285-6983-E089DB79A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18672-0070-033E-8087-B467FAC9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56811-9309-4ED2-B18B-335FB0FF1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74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000C8-71FD-FC78-5E4A-AA49E0A9F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9F68-C71C-4E97-8871-417A91D45D9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9369F-9A0F-F813-979A-D588E27F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5123-BB5A-2015-7574-FE6D730A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56811-9309-4ED2-B18B-335FB0FF1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3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B125-DF74-8021-E0A6-E7ED4E35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1A43-BFB9-8302-21EF-0ED6EA44E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0F1D3-0D65-7D69-7066-80DF9EEC4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6E391-A7FC-6016-40D7-5D584D2BB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9F68-C71C-4E97-8871-417A91D45D9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C3FC3-CB09-2684-6D9E-0269800D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53FE5-205E-3857-C40F-2422FA1D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56811-9309-4ED2-B18B-335FB0FF1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4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F45D-4901-1810-D242-BA322C48C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74F35-DD23-28B6-0066-010AD787D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BFFFA-78F9-4E4C-18B9-5F7F334BB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87208-BC84-0082-8D04-8814031F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9F68-C71C-4E97-8871-417A91D45D9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D8792-6DD6-98E9-6728-760A95B4F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AB806-A2F7-FB16-7AA2-77533CA6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56811-9309-4ED2-B18B-335FB0FF1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068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2090-5743-C567-080D-E83E53944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B801A-BD94-E8FA-D6F6-5108D8802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F0660-C4F0-7B41-F077-D0A32A5CE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9F68-C71C-4E97-8871-417A91D45D9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2C10C-A0EC-9ACB-29B5-893F82ED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12ED8-25AF-C5CF-F0FB-BA6525B3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56811-9309-4ED2-B18B-335FB0FF1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728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A7A45-CD9C-C7DD-33E5-4DD22908AA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29546-B326-5070-829A-5ECC8E730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D147F-0347-3AC8-699E-E463DCAE7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9F68-C71C-4E97-8871-417A91D45D9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AFE46-BC50-0105-5CE4-2D7F23CC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CB653-CCCD-3375-3D22-CF48AB92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56811-9309-4ED2-B18B-335FB0FF1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279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3FF248-7909-3E45-9770-84F0A629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D382-4647-22B1-A3ED-BA2B00043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7A20B-59FD-7856-92D3-7FC2347BE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B9F68-C71C-4E97-8871-417A91D45D9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EA31F-2BBE-8B8C-7A09-FB8C536FD7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D8902-E06C-A969-E7AC-DEDA1CAA0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56811-9309-4ED2-B18B-335FB0FF1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63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37DC-AC51-D86D-811A-81FECE9FFF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Dubai" panose="020B0503030403030204" pitchFamily="34" charset="-78"/>
                <a:cs typeface="Dubai" panose="020B0503030403030204" pitchFamily="34" charset="-78"/>
              </a:rPr>
              <a:t>Analytical Data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CC064-31FE-6759-B713-0D8FBE79C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747837"/>
          </a:xfrm>
        </p:spPr>
        <p:txBody>
          <a:bodyPr/>
          <a:lstStyle/>
          <a:p>
            <a:r>
              <a:rPr lang="en-IN" dirty="0">
                <a:latin typeface="Dubai" panose="020B0503030403030204" pitchFamily="34" charset="-78"/>
                <a:cs typeface="Dubai" panose="020B0503030403030204" pitchFamily="34" charset="-78"/>
              </a:rPr>
              <a:t>HR Analysis Insight</a:t>
            </a:r>
          </a:p>
        </p:txBody>
      </p:sp>
    </p:spTree>
    <p:extLst>
      <p:ext uri="{BB962C8B-B14F-4D97-AF65-F5344CB8AC3E}">
        <p14:creationId xmlns:p14="http://schemas.microsoft.com/office/powerpoint/2010/main" val="359688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F07A8-B93F-6423-5A76-59D55EFF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636487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Dubai" panose="020B0503030403030204" pitchFamily="34" charset="-78"/>
                <a:cs typeface="Dubai" panose="020B0503030403030204" pitchFamily="34" charset="-78"/>
              </a:rPr>
              <a:t>HR Overview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8A1E7-D785-BF8D-359A-20D282247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4"/>
            <a:ext cx="10515600" cy="5540476"/>
          </a:xfrm>
        </p:spPr>
        <p:txBody>
          <a:bodyPr numCol="2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1.Workforce Overview</a:t>
            </a:r>
          </a:p>
          <a:p>
            <a:pPr marL="0" indent="0" algn="just">
              <a:buNone/>
            </a:pP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The organization has a total workforce of approximately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1,000 employees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, with an overall attrition rate of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16.12%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, indicating moderate employee turnover. The average salary stands at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6.5K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, while total attrition count reached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237 employees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.</a:t>
            </a:r>
          </a:p>
          <a:p>
            <a:pPr marL="0" indent="0" algn="just">
              <a:buNone/>
            </a:pPr>
            <a:endParaRPr lang="en-US" sz="14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0" indent="0" algn="just">
              <a:buNone/>
            </a:pP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2. Age-based Attrition</a:t>
            </a:r>
          </a:p>
          <a:p>
            <a:pPr marL="0" indent="0" algn="just">
              <a:buNone/>
            </a:pP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Younger employees show significantly higher attrition rates, particularly employees in their early 20s. Attrition gradually declines with age, indicating retention challenges among early-career employees.</a:t>
            </a:r>
          </a:p>
          <a:p>
            <a:pPr marL="0" indent="0" algn="just">
              <a:buNone/>
            </a:pPr>
            <a:endParaRPr lang="en-US" sz="14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0" indent="0" algn="just">
              <a:buNone/>
            </a:pP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3.Department Attrition</a:t>
            </a:r>
          </a:p>
          <a:p>
            <a:pPr marL="0" indent="0" algn="just">
              <a:buNone/>
            </a:pP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The Sales department recorded the highest attrition rate, followed by Human Resources, while Research &amp; Development had comparatively lower employee turnover.</a:t>
            </a:r>
          </a:p>
          <a:p>
            <a:pPr marL="0" indent="0" algn="just">
              <a:buNone/>
            </a:pPr>
            <a:endParaRPr lang="en-US" sz="14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0" indent="0" algn="just">
              <a:buNone/>
            </a:pP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4.Job Satisfaction</a:t>
            </a:r>
          </a:p>
          <a:p>
            <a:pPr marL="0" indent="0" algn="just">
              <a:buNone/>
            </a:pP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Employees with lower job satisfaction levels demonstrate higher attrition rates, indicating dissatisfaction as a key driver of employee turnover.</a:t>
            </a:r>
          </a:p>
          <a:p>
            <a:pPr marL="0" indent="0">
              <a:buNone/>
            </a:pPr>
            <a:endParaRPr lang="en-US" sz="14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0" indent="0">
              <a:buNone/>
            </a:pPr>
            <a:endParaRPr lang="en-US" sz="14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0" indent="0">
              <a:buNone/>
            </a:pPr>
            <a:endParaRPr lang="en-US" sz="14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1551F0-8BC1-8739-47E7-96CCC0A1E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780" y="1632156"/>
            <a:ext cx="5093109" cy="436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6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F3510-03CC-5D60-1D17-C8E209185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F51C-59A4-20EE-13D4-E7CE349E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0943"/>
            <a:ext cx="10515600" cy="5211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Dubai" panose="020B0503030403030204" pitchFamily="34" charset="-78"/>
                <a:cs typeface="Dubai" panose="020B0503030403030204" pitchFamily="34" charset="-78"/>
              </a:rPr>
              <a:t>Attrition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74AF4C-24E9-78A4-E03A-98AD0315ABD7}"/>
              </a:ext>
            </a:extLst>
          </p:cNvPr>
          <p:cNvSpPr txBox="1"/>
          <p:nvPr/>
        </p:nvSpPr>
        <p:spPr>
          <a:xfrm>
            <a:off x="4237703" y="1415845"/>
            <a:ext cx="36772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2. Attrition by Years at Company</a:t>
            </a:r>
          </a:p>
          <a:p>
            <a:endParaRPr lang="en-US" sz="1400" b="1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just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Employees with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0 years of tenure showed the highest attrition rate (24.31%)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, indicating that newly hired employees are leaving early. Attrition also rises again among employees with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30 years of tenure (23.08%)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, which may reflect retirement or late-career exits.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E5DB4E-0D35-5E83-E569-CEE39EA78263}"/>
              </a:ext>
            </a:extLst>
          </p:cNvPr>
          <p:cNvSpPr txBox="1"/>
          <p:nvPr/>
        </p:nvSpPr>
        <p:spPr>
          <a:xfrm>
            <a:off x="8190271" y="1415845"/>
            <a:ext cx="316352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3. Job Satisfaction Impact</a:t>
            </a:r>
          </a:p>
          <a:p>
            <a:endParaRPr lang="en-US" sz="1400" b="1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just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Employees with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Job Satisfaction level 1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 recorded the highest attrition rate at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22.84%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, while employees with higher satisfaction levels showed lower attrition. This suggests employee satisfaction is strongly linked to retention.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5D5EA-768F-BDF6-5DA0-6D65D7AC06DA}"/>
              </a:ext>
            </a:extLst>
          </p:cNvPr>
          <p:cNvSpPr txBox="1"/>
          <p:nvPr/>
        </p:nvSpPr>
        <p:spPr>
          <a:xfrm>
            <a:off x="442452" y="1415845"/>
            <a:ext cx="34216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1.Department-Wise Attrition</a:t>
            </a:r>
          </a:p>
          <a:p>
            <a:endParaRPr lang="en-US" sz="1400" b="1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just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The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Sales department recorded the highest attrition rate (20.63%)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, followed by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Human Resources (19.05%)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, while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Research &amp; Development showed the lowest attrition rate (13.84%)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. This indicates that customer-facing and support roles may be experiencing higher turnover pressure.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652923-0E35-15C3-793F-BC284B077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4026406"/>
            <a:ext cx="3421625" cy="19294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CC6EA76-AE30-07F9-AF2B-2EAF1C1AE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703" y="4026406"/>
            <a:ext cx="3677265" cy="192946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CA524D-52A5-0B81-E76F-9F3AC344A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042" y="4026406"/>
            <a:ext cx="2896758" cy="19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79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D0DF1-77BA-EA43-F55A-B2DA3903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0C4344-644D-B3D9-5803-106B30737EC7}"/>
              </a:ext>
            </a:extLst>
          </p:cNvPr>
          <p:cNvSpPr txBox="1"/>
          <p:nvPr/>
        </p:nvSpPr>
        <p:spPr>
          <a:xfrm>
            <a:off x="6233652" y="737419"/>
            <a:ext cx="37165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5. Job Role Attrition</a:t>
            </a:r>
          </a:p>
          <a:p>
            <a:pPr algn="just"/>
            <a:endParaRPr lang="en-US" sz="1400" b="1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just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Among all job roles,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Sales Representatives (39.76%)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 faced the highest attrition, followed by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Laboratory Technicians (23.74%)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 and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Human Resources roles (23.08%)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. These roles may require targeted retention strategies.</a:t>
            </a:r>
          </a:p>
          <a:p>
            <a:pPr algn="just"/>
            <a:endParaRPr lang="en-IN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2559CC-F7B6-6DD1-438A-92B5CD496B5D}"/>
              </a:ext>
            </a:extLst>
          </p:cNvPr>
          <p:cNvSpPr txBox="1"/>
          <p:nvPr/>
        </p:nvSpPr>
        <p:spPr>
          <a:xfrm>
            <a:off x="1661651" y="737419"/>
            <a:ext cx="39427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4. Overtime Impact</a:t>
            </a:r>
          </a:p>
          <a:p>
            <a:pPr algn="just"/>
            <a:endParaRPr lang="en-US" sz="1400" b="1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just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Employees working overtime experienced significantly higher attrition (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30.53%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) compared to employees not working overtime (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10.44%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). This indicates workload imbalance may be a major factor contributing to employee exits.</a:t>
            </a:r>
          </a:p>
          <a:p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FBC052-FC01-0EFF-0AA1-F42181B52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853" y="2917613"/>
            <a:ext cx="2610214" cy="3029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BE255D-8FCE-9D9D-4334-F8149C2BA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977" y="2917613"/>
            <a:ext cx="3353268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39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70BE-190D-617C-F3BF-D8B54869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7C7D-2092-6CA0-1717-5B73E3AE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0943"/>
            <a:ext cx="10515600" cy="52111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Dubai" panose="020B0503030403030204" pitchFamily="34" charset="-78"/>
                <a:cs typeface="Dubai" panose="020B0503030403030204" pitchFamily="34" charset="-78"/>
              </a:rPr>
              <a:t>Employee Demographics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D1198-0289-6F8B-5490-95805053F9EB}"/>
              </a:ext>
            </a:extLst>
          </p:cNvPr>
          <p:cNvSpPr txBox="1"/>
          <p:nvPr/>
        </p:nvSpPr>
        <p:spPr>
          <a:xfrm>
            <a:off x="4237703" y="1415845"/>
            <a:ext cx="367726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2. Employee Tenure Distribution</a:t>
            </a:r>
          </a:p>
          <a:p>
            <a:pPr algn="just"/>
            <a:endParaRPr lang="en-US" sz="1400" b="1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just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A large portion of employees have tenure between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1–10 years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, while significantly fewer employees stay beyond 20 years. This indicates that most employees are in the early-to-mid stages of their careers.</a:t>
            </a:r>
            <a:endParaRPr lang="en-IN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34CA0F-CAD6-B1EB-6F31-142EA0AA5BA7}"/>
              </a:ext>
            </a:extLst>
          </p:cNvPr>
          <p:cNvSpPr txBox="1"/>
          <p:nvPr/>
        </p:nvSpPr>
        <p:spPr>
          <a:xfrm>
            <a:off x="8288594" y="1415845"/>
            <a:ext cx="306520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3. Job Role Distribution</a:t>
            </a:r>
          </a:p>
          <a:p>
            <a:pPr algn="just"/>
            <a:endParaRPr lang="en-US" sz="1400" b="1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just"/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Sales Executives (326 employees)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 represent the largest workforce segment, followed by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Research Scientists (292 employees)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 and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Laboratory Technicians (259 employees)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. This indicates the company heavily relies on sales and research-related roles.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9E097D-9004-D6C2-9890-0F3CD6B82E5A}"/>
              </a:ext>
            </a:extLst>
          </p:cNvPr>
          <p:cNvSpPr txBox="1"/>
          <p:nvPr/>
        </p:nvSpPr>
        <p:spPr>
          <a:xfrm>
            <a:off x="442452" y="1415845"/>
            <a:ext cx="34216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1.Age Distribution</a:t>
            </a:r>
          </a:p>
          <a:p>
            <a:pPr algn="just"/>
            <a:endParaRPr lang="en-US" sz="1400" b="1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just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The workforce is primarily concentrated between the age group of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25–40 years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, with the highest employee concentration around the early-to-mid 30s. This indicates that the company largely consists of mid-career professionals.</a:t>
            </a:r>
          </a:p>
          <a:p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57A82-2DD2-9D78-ACD2-5B7AB1F47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4026406"/>
            <a:ext cx="3292507" cy="1929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F942FD-8D7C-EF8E-5591-D9E7E0433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703" y="4026406"/>
            <a:ext cx="3677265" cy="19294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B32B05-AAB5-FEB3-F9E4-BF48BA6AC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594" y="4026406"/>
            <a:ext cx="3065206" cy="192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40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87514-80A0-BC1F-E6FE-A3B487D31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3B4C8C5-E008-0006-DD4F-9F65C1704617}"/>
              </a:ext>
            </a:extLst>
          </p:cNvPr>
          <p:cNvSpPr txBox="1"/>
          <p:nvPr/>
        </p:nvSpPr>
        <p:spPr>
          <a:xfrm>
            <a:off x="6223819" y="737419"/>
            <a:ext cx="372642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5. Gender Distribution</a:t>
            </a:r>
          </a:p>
          <a:p>
            <a:pPr algn="just"/>
            <a:endParaRPr lang="en-US" sz="1400" b="1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just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The organization has a relatively balanced gender workforce, with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882 male employees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 and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588 female employees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, though male employees represent a larger share of the workforce.</a:t>
            </a:r>
          </a:p>
          <a:p>
            <a:pPr algn="just"/>
            <a:endParaRPr lang="en-IN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128410-6BE3-2E0B-8962-3E73B3FFB02C}"/>
              </a:ext>
            </a:extLst>
          </p:cNvPr>
          <p:cNvSpPr txBox="1"/>
          <p:nvPr/>
        </p:nvSpPr>
        <p:spPr>
          <a:xfrm>
            <a:off x="1661651" y="737419"/>
            <a:ext cx="394273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4. Education Field Distribution</a:t>
            </a:r>
          </a:p>
          <a:p>
            <a:pPr algn="just"/>
            <a:endParaRPr lang="en-US" sz="1400" b="1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just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Most employees come from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Life Sciences (606 employees)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 and </a:t>
            </a:r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Medical backgrounds (464 employees)</a:t>
            </a:r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, showing that the workforce is primarily built around healthcare/science-related expertise.</a:t>
            </a:r>
          </a:p>
          <a:p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5C6AD3-0075-808C-3D08-717134479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128" y="2974770"/>
            <a:ext cx="3191320" cy="2915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FA3DFC-FA18-10B8-EA50-02D8A3E3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727" y="3087585"/>
            <a:ext cx="2459713" cy="237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452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00E5C-9D9D-A66C-1E65-24B97012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361C2-1F96-319B-6FE9-F8B84125F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185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549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Dubai</vt:lpstr>
      <vt:lpstr>Office Theme</vt:lpstr>
      <vt:lpstr>Analytical Data Report</vt:lpstr>
      <vt:lpstr>HR Overview Dashboard</vt:lpstr>
      <vt:lpstr>Attrition Analysis</vt:lpstr>
      <vt:lpstr>PowerPoint Presentation</vt:lpstr>
      <vt:lpstr>Employee Demographics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Nainesh Shirsath</dc:creator>
  <cp:lastModifiedBy>Nainesh Shirsath</cp:lastModifiedBy>
  <cp:revision>2</cp:revision>
  <dcterms:created xsi:type="dcterms:W3CDTF">2026-05-05T17:25:38Z</dcterms:created>
  <dcterms:modified xsi:type="dcterms:W3CDTF">2026-05-05T18:27:29Z</dcterms:modified>
</cp:coreProperties>
</file>